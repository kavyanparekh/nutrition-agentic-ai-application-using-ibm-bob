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0fa7515ecf304ba0" /><Relationship Type="http://schemas.openxmlformats.org/package/2006/relationships/metadata/core-properties" Target="/docProps/core.xml" Id="Rf18fc2c557aa4622" /><Relationship Type="http://schemas.openxmlformats.org/officeDocument/2006/relationships/extended-properties" Target="/docProps/app.xml" Id="R86fcab5a263749e0" /><Relationship Type="http://schemas.openxmlformats.org/officeDocument/2006/relationships/custom-properties" Target="/docProps/custom.xml" Id="Rc78dc593b5b14b2c"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42da3eecaf8e44b3"/>
  </p:notesMasterIdLst>
  <p:sldIdLst>
    <p:sldId id="256" r:id="R3eba4dad950440cd"/>
    <p:sldId id="257" r:id="Rd435675f00ef4f2d"/>
    <p:sldId id="258" r:id="R331d1b1715484f10"/>
    <p:sldId id="259" r:id="R82cdfc0333604dc3"/>
    <p:sldId id="260" r:id="R30591a6e3f974b9d"/>
    <p:sldId id="261" r:id="R504b3647ce3b441c"/>
    <p:sldId id="262" r:id="Ra961c0a26385430b"/>
    <p:sldId id="263" r:id="Rd1dd736ed04a49d6"/>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3eba4dad950440cd" /><Relationship Type="http://schemas.openxmlformats.org/officeDocument/2006/relationships/notesMaster" Target="/ppt/notesMasters/notesMaster1.xml" Id="R42da3eecaf8e44b3" /><Relationship Type="http://schemas.openxmlformats.org/officeDocument/2006/relationships/slide" Target="/ppt/slides/slide2.xml" Id="Rd435675f00ef4f2d" /><Relationship Type="http://schemas.openxmlformats.org/officeDocument/2006/relationships/slide" Target="/ppt/slides/slide3.xml" Id="R331d1b1715484f10" /><Relationship Type="http://schemas.openxmlformats.org/officeDocument/2006/relationships/slide" Target="/ppt/slides/slide4.xml" Id="R82cdfc0333604dc3" /><Relationship Type="http://schemas.openxmlformats.org/officeDocument/2006/relationships/slide" Target="/ppt/slides/slide5.xml" Id="R30591a6e3f974b9d" /><Relationship Type="http://schemas.openxmlformats.org/officeDocument/2006/relationships/slide" Target="/ppt/slides/slide6.xml" Id="R504b3647ce3b441c" /><Relationship Type="http://schemas.openxmlformats.org/officeDocument/2006/relationships/slide" Target="/ppt/slides/slide7.xml" Id="Ra961c0a26385430b" /><Relationship Type="http://schemas.openxmlformats.org/officeDocument/2006/relationships/slide" Target="/ppt/slides/slide8.xml" Id="Rd1dd736ed04a49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28176ac754cb44e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f4bfdaafe1b740dd" /><Relationship Type="http://schemas.openxmlformats.org/officeDocument/2006/relationships/slide" Target="/ppt/slides/slide1.xml" Id="R9886d4067d1d446c"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89af07617c7c40a5" /><Relationship Type="http://schemas.openxmlformats.org/officeDocument/2006/relationships/slide" Target="/ppt/slides/slide2.xml" Id="R18492391a83d40bc"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195873e820e04083" /><Relationship Type="http://schemas.openxmlformats.org/officeDocument/2006/relationships/slide" Target="/ppt/slides/slide3.xml" Id="Rfa5632402e164a97"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df52d9e572414473" /><Relationship Type="http://schemas.openxmlformats.org/officeDocument/2006/relationships/slide" Target="/ppt/slides/slide4.xml" Id="R984892152e8a4514"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a28f240a7ab6458f" /><Relationship Type="http://schemas.openxmlformats.org/officeDocument/2006/relationships/slide" Target="/ppt/slides/slide5.xml" Id="R8a109c871a554608"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33821738acbd4b7a" /><Relationship Type="http://schemas.openxmlformats.org/officeDocument/2006/relationships/slide" Target="/ppt/slides/slide6.xml" Id="R07960ae57bb749bc"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53b0dd9bedd34f22" /><Relationship Type="http://schemas.openxmlformats.org/officeDocument/2006/relationships/slide" Target="/ppt/slides/slide7.xml" Id="R371c1bf9bc1e46f1"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0de27ff5a8f642c4" /><Relationship Type="http://schemas.openxmlformats.org/officeDocument/2006/relationships/slide" Target="/ppt/slides/slide8.xml" Id="R0ff2028e616349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 NutriAgent AI is a web-based agentic AI application that delivers personalised nutrition plans, macro tracking, recipe analysis, and health insights, all powered by IBM Granite 13B Instruct via IBM watsonx.ai. This presentation covers the problem statement, architecture, features, tech stack, and demo.</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Problem: Nutrition advice is either too generic (apps with static databases) or too expensive (registered dietitians). There is no accessible, personalised, AI-powered middle ground that accounts for individual health conditions, goals, and dietary preferences in real time. NutriAgent AI fills that gap using IBM Granite.</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solution is a five-agent Streamlit application. Each tab in the app corresponds to a specialised agent prompt sent to IBM Granite. The user profile (age, weight, BMI, goals, conditions) is injected into every prompt to ensure contextual personalisation. Meal plans are saved to plan.md for offline access.</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Architecture is a 4-layer pipeline. (1) Presentation: Streamlit + HTML landing page. (2) Agent Orchestration: Python functions build context-rich prompts from the user profile and the task. (3) IBM AI: ibm-watsonx-ai SDK sends prompts to Granite-13B Instruct; temperature 0.7 for creative yet factual responses. (4) Output: results rendered in Streamlit tabs; meal plans written to plan.md.</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Feature highlights: (1) Every AI call includes the full user profile JSON, so Granite responses are never generic. (2) plan.md acts as a persistent, offline-readable output file. (3) Plotly charts render in-app without any additional JS. (4) Streamlit session_state preserves chat history so the user can have a natural multi-turn conversation.</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IBM Granite is IBM's own family of foundation models. Granite-13B Instruct is optimised for following natural language instructions and generating structured, factual responses — ideal for nutrition advice. watsonx.ai provides the managed inference endpoint. The ibm-watsonx-ai Python SDK handles auth, prompt submission, and response parsing transparently.</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full project is 7 key files. run.bat handles environment creation, dependency installation, .env template creation, and Streamlit launch in one double-click. Credentials are kept out of source code via .env / python-dotenv. plan.md is auto-written by the app when a meal plan is generated.</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Closing slide. Summary: NutriAgent AI demonstrates how IBM Granite and watsonx.ai can be applied to a real-world health use case with zero ML expertise required. The entire stack runs locally via run.bat. Future enhancements could include a calorie database API integration, wearable data ingestion, and a multi-agent LangChain pipeline.</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5f78c675a04e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84241711b041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d321f7040341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b8b87a60d040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176cf7fdb046dc"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822548ee3a204d20"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c6a5592c855e4ec8" /><Relationship Type="http://schemas.openxmlformats.org/officeDocument/2006/relationships/notesSlide" Target="/ppt/notesSlides/notesSlide1.xml" Id="Rc5e095068a1942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8e290fbbe641e3" /><Relationship Type="http://schemas.openxmlformats.org/officeDocument/2006/relationships/notesSlide" Target="/ppt/notesSlides/notesSlide2.xml" Id="Rcea079f8f49841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7a56dad9d2494d" /><Relationship Type="http://schemas.openxmlformats.org/officeDocument/2006/relationships/notesSlide" Target="/ppt/notesSlides/notesSlide3.xml" Id="R8b6fdfa8692e47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94e7f42c5641ec" /><Relationship Type="http://schemas.openxmlformats.org/officeDocument/2006/relationships/notesSlide" Target="/ppt/notesSlides/notesSlide4.xml" Id="R95dc0b79df9d46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a212a9d217479d" /><Relationship Type="http://schemas.openxmlformats.org/officeDocument/2006/relationships/notesSlide" Target="/ppt/notesSlides/notesSlide5.xml" Id="R4cbe6198fed547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afbc0597134cd3" /><Relationship Type="http://schemas.openxmlformats.org/officeDocument/2006/relationships/notesSlide" Target="/ppt/notesSlides/notesSlide6.xml" Id="Ree5ea8c779ce4c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305e727807475a" /><Relationship Type="http://schemas.openxmlformats.org/officeDocument/2006/relationships/notesSlide" Target="/ppt/notesSlides/notesSlide7.xml" Id="Rc81122c6c2064c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310e7c22fd4a3f" /><Relationship Type="http://schemas.openxmlformats.org/officeDocument/2006/relationships/notesSlide" Target="/ppt/notesSlides/notesSlide8.xml" Id="R293e903beca74e2e" /></Relationships>
</file>

<file path=ppt/slides/slide1.xml><?xml version="1.0" encoding="utf-8"?>
<p:sld xmlns:p="http://schemas.openxmlformats.org/presentationml/2006/main">
  <p:cSld>
    <p:bg>
      <p:bgPr>
        <a:solidFill xmlns:a="http://schemas.openxmlformats.org/drawingml/2006/main">
          <a:srgbClr val="1A6B3A"/>
        </a:solidFill>
      </p:bgPr>
    </p:bg>
    <p:spTree>
      <p:nvGrpSpPr>
        <p:cNvPr id="1" name=""/>
        <p:cNvGrpSpPr/>
        <p:nvPr/>
      </p:nvGrpSpPr>
      <p:grpSpPr/>
      <p:sp>
        <p:nvSpPr>
          <p:cNvPr id="100000" name="Badge"/>
          <p:cNvSpPr txBox="1"/>
          <p:nvPr/>
        </p:nvSpPr>
        <p:spPr>
          <a:xfrm xmlns:a="http://schemas.openxmlformats.org/drawingml/2006/main">
            <a:off x="2880000" y="720000"/>
            <a:ext cx="648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0">
                <a:solidFill>
                  <a:srgbClr val="A5D6A7"/>
                </a:solidFill>
              </a:rPr>
              <a:t>IBM Granite LLM  ·  watsonx.ai</a:t>
            </a:r>
          </a:p>
        </p:txBody>
      </p:sp>
      <p:sp>
        <p:nvSpPr>
          <p:cNvPr id="100001" name="Title"/>
          <p:cNvSpPr txBox="1"/>
          <p:nvPr/>
        </p:nvSpPr>
        <p:spPr>
          <a:xfrm xmlns:a="http://schemas.openxmlformats.org/drawingml/2006/main">
            <a:off x="720000" y="1440000"/>
            <a:ext cx="10800000" cy="12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5400" b="1">
                <a:solidFill>
                  <a:srgbClr val="FFFFFF"/>
                </a:solidFill>
              </a:rPr>
              <a:t>NutriAgent AI</a:t>
            </a:r>
          </a:p>
        </p:txBody>
      </p:sp>
      <p:sp>
        <p:nvSpPr>
          <p:cNvPr id="100002" name="Subtitle"/>
          <p:cNvSpPr txBox="1"/>
          <p:nvPr/>
        </p:nvSpPr>
        <p:spPr>
          <a:xfrm xmlns:a="http://schemas.openxmlformats.org/drawingml/2006/main">
            <a:off x="720000" y="2880000"/>
            <a:ext cx="10800000" cy="10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0">
                <a:solidFill>
                  <a:srgbClr val="C8E6C9"/>
                </a:solidFill>
              </a:rPr>
              <a:t>Personalised Nutrition Intelligence</a:t>
            </a:r>
          </a:p>
          <a:p xmlns:a="http://schemas.openxmlformats.org/drawingml/2006/main">
            <a:r>
              <a:rPr lang="en-US" sz="2400" b="0">
                <a:solidFill>
                  <a:srgbClr val="C8E6C9"/>
                </a:solidFill>
              </a:rPr>
              <a:t>Powered by IBM Granite LLM &amp; watsonx.ai</a:t>
            </a:r>
          </a:p>
        </p:txBody>
      </p:sp>
      <p:sp>
        <p:nvSpPr>
          <p:cNvPr id="100003" name="Footer"/>
          <p:cNvSpPr txBox="1"/>
          <p:nvPr/>
        </p:nvSpPr>
        <p:spPr>
          <a:xfrm xmlns:a="http://schemas.openxmlformats.org/drawingml/2006/main">
            <a:off x="720000" y="6120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A5D6A7"/>
                </a:solidFill>
              </a:rPr>
              <a:t>Nutrition Agentic AI Application  ·  Case Study Presentation</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4" name="Label"/>
          <p:cNvSpPr txBox="1"/>
          <p:nvPr/>
        </p:nvSpPr>
        <p:spPr>
          <a:xfrm xmlns:a="http://schemas.openxmlformats.org/drawingml/2006/main">
            <a:off x="720000" y="36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2E9E5B"/>
                </a:solidFill>
              </a:rPr>
              <a:t>SLIDE 2  ·  PROBLEM STATEMENT</a:t>
            </a:r>
          </a:p>
        </p:txBody>
      </p:sp>
      <p:sp>
        <p:nvSpPr>
          <p:cNvPr id="100005" name="Title"/>
          <p:cNvSpPr txBox="1"/>
          <p:nvPr/>
        </p:nvSpPr>
        <p:spPr>
          <a:xfrm xmlns:a="http://schemas.openxmlformats.org/drawingml/2006/main">
            <a:off x="720000" y="792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A6B3A"/>
                </a:solidFill>
              </a:rPr>
              <a:t>The Challenge: Nutrition in the Digital Age</a:t>
            </a:r>
          </a:p>
        </p:txBody>
      </p:sp>
      <p:sp>
        <p:nvSpPr>
          <p:cNvPr id="100006" name="Body"/>
          <p:cNvSpPr txBox="1"/>
          <p:nvPr/>
        </p:nvSpPr>
        <p:spPr>
          <a:xfrm xmlns:a="http://schemas.openxmlformats.org/drawingml/2006/main">
            <a:off x="720000" y="1620000"/>
            <a:ext cx="10800000" cy="3960000"/>
          </a:xfrm>
          <a:prstGeom xmlns:a="http://schemas.openxmlformats.org/drawingml/2006/main" prst="rect">
            <a:avLst/>
          </a:prstGeom>
          <a:solidFill xmlns:a="http://schemas.openxmlformats.org/drawingml/2006/main">
            <a:srgbClr val="F8FDF9"/>
          </a:solidFill>
        </p:spPr>
        <p:txBody>
          <a:bodyPr xmlns:a="http://schemas.openxmlformats.org/drawingml/2006/main"/>
          <a:lstStyle xmlns:a="http://schemas.openxmlformats.org/drawingml/2006/main"/>
          <a:p xmlns:a="http://schemas.openxmlformats.org/drawingml/2006/main">
            <a:r>
              <a:rPr lang="en-US" sz="1900">
                <a:solidFill>
                  <a:srgbClr val="1F2328"/>
                </a:solidFill>
              </a:rPr>
              <a:t>❌  Generic diet apps deliver one-size-fits-all advice</a:t>
            </a:r>
          </a:p>
          <a:p xmlns:a="http://schemas.openxmlformats.org/drawingml/2006/main">
            <a:r>
              <a:rPr lang="en-US" sz="1900">
                <a:solidFill>
                  <a:srgbClr val="1F2328"/>
                </a:solidFill>
              </a:rPr>
              <a:t>❌  People lack accessible, personalised dietary guidance</a:t>
            </a:r>
          </a:p>
          <a:p xmlns:a="http://schemas.openxmlformats.org/drawingml/2006/main">
            <a:r>
              <a:rPr lang="en-US" sz="1900">
                <a:solidFill>
                  <a:srgbClr val="1F2328"/>
                </a:solidFill>
              </a:rPr>
              <a:t>❌  Managing chronic conditions (diabetes, hypertension) requires expert nutrition knowledge</a:t>
            </a:r>
          </a:p>
          <a:p xmlns:a="http://schemas.openxmlformats.org/drawingml/2006/main">
            <a:r>
              <a:rPr lang="en-US" sz="1900">
                <a:solidFill>
                  <a:srgbClr val="1F2328"/>
                </a:solidFill>
              </a:rPr>
              <a:t>❌  Existing tools cannot adapt to user goals, health conditions &amp; dietary preferences</a:t>
            </a:r>
          </a:p>
          <a:p xmlns:a="http://schemas.openxmlformats.org/drawingml/2006/main">
            <a:r>
              <a:rPr lang="en-US" sz="1900">
                <a:solidFill>
                  <a:srgbClr val="1F2328"/>
                </a:solidFill>
              </a:rPr>
              <a:t/>
            </a:r>
          </a:p>
          <a:p xmlns:a="http://schemas.openxmlformats.org/drawingml/2006/main">
            <a:r>
              <a:rPr lang="en-US" sz="1900">
                <a:solidFill>
                  <a:srgbClr val="1F2328"/>
                </a:solidFill>
              </a:rPr>
              <a:t>✅  NutriAgent AI solves this with an LLM-driven agentic system</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7" name="Label"/>
          <p:cNvSpPr txBox="1"/>
          <p:nvPr/>
        </p:nvSpPr>
        <p:spPr>
          <a:xfrm xmlns:a="http://schemas.openxmlformats.org/drawingml/2006/main">
            <a:off x="720000" y="36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2E9E5B"/>
                </a:solidFill>
              </a:rPr>
              <a:t>SLIDE 3  ·  SOLUTION OVERVIEW</a:t>
            </a:r>
          </a:p>
        </p:txBody>
      </p:sp>
      <p:sp>
        <p:nvSpPr>
          <p:cNvPr id="100008" name="Title"/>
          <p:cNvSpPr txBox="1"/>
          <p:nvPr/>
        </p:nvSpPr>
        <p:spPr>
          <a:xfrm xmlns:a="http://schemas.openxmlformats.org/drawingml/2006/main">
            <a:off x="720000" y="792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A6B3A"/>
                </a:solidFill>
              </a:rPr>
              <a:t>NutriAgent AI — What It Does</a:t>
            </a:r>
          </a:p>
        </p:txBody>
      </p:sp>
      <p:sp>
        <p:nvSpPr>
          <p:cNvPr id="100009" name="Intro"/>
          <p:cNvSpPr txBox="1"/>
          <p:nvPr/>
        </p:nvSpPr>
        <p:spPr>
          <a:xfrm xmlns:a="http://schemas.openxmlformats.org/drawingml/2006/main">
            <a:off x="720000" y="1620000"/>
            <a:ext cx="1080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57606A"/>
                </a:solidFill>
              </a:rPr>
              <a:t>A web-based Agentic AI application that combines a rich user profile with IBM Granite's language understanding to deliver truly personalised nutrition intelligence across five specialised AI agents.</a:t>
            </a:r>
          </a:p>
        </p:txBody>
      </p:sp>
      <p:sp>
        <p:nvSpPr>
          <p:cNvPr id="100010" name="Agents"/>
          <p:cNvSpPr txBox="1"/>
          <p:nvPr/>
        </p:nvSpPr>
        <p:spPr>
          <a:xfrm xmlns:a="http://schemas.openxmlformats.org/drawingml/2006/main">
            <a:off x="720000" y="2592000"/>
            <a:ext cx="10800000" cy="324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800">
                <a:solidFill>
                  <a:srgbClr val="1F2328"/>
                </a:solidFill>
              </a:rPr>
              <a:t>🗓️  Nutrition Plan Agent — generates 3/7/14-day personalised meal plans</a:t>
            </a:r>
          </a:p>
          <a:p xmlns:a="http://schemas.openxmlformats.org/drawingml/2006/main">
            <a:r>
              <a:rPr lang="en-US" sz="1800">
                <a:solidFill>
                  <a:srgbClr val="1F2328"/>
                </a:solidFill>
              </a:rPr>
              <a:t>📊  Macro Tracker Agent — logs macros, visualises caloric breakdown, gives AI feedback</a:t>
            </a:r>
          </a:p>
          <a:p xmlns:a="http://schemas.openxmlformats.org/drawingml/2006/main">
            <a:r>
              <a:rPr lang="en-US" sz="1800">
                <a:solidFill>
                  <a:srgbClr val="1F2328"/>
                </a:solidFill>
              </a:rPr>
              <a:t>💬  Q&amp;A Chat Agent — answers any nutrition question in natural language</a:t>
            </a:r>
          </a:p>
          <a:p xmlns:a="http://schemas.openxmlformats.org/drawingml/2006/main">
            <a:r>
              <a:rPr lang="en-US" sz="1800">
                <a:solidFill>
                  <a:srgbClr val="1F2328"/>
                </a:solidFill>
              </a:rPr>
              <a:t>🍳  Recipe Analyser Agent — scores any recipe and suggests improvements</a:t>
            </a:r>
          </a:p>
          <a:p xmlns:a="http://schemas.openxmlformats.org/drawingml/2006/main">
            <a:r>
              <a:rPr lang="en-US" sz="1800">
                <a:solidFill>
                  <a:srgbClr val="1F2328"/>
                </a:solidFill>
              </a:rPr>
              <a:t>🩺  Health Insights Agent — delivers goal-specific dietary recommendations</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1" name="Label"/>
          <p:cNvSpPr txBox="1"/>
          <p:nvPr/>
        </p:nvSpPr>
        <p:spPr>
          <a:xfrm xmlns:a="http://schemas.openxmlformats.org/drawingml/2006/main">
            <a:off x="720000" y="36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2E9E5B"/>
                </a:solidFill>
              </a:rPr>
              <a:t>SLIDE 4  ·  SYSTEM ARCHITECTURE</a:t>
            </a:r>
          </a:p>
        </p:txBody>
      </p:sp>
      <p:sp>
        <p:nvSpPr>
          <p:cNvPr id="100012" name="Title"/>
          <p:cNvSpPr txBox="1"/>
          <p:nvPr/>
        </p:nvSpPr>
        <p:spPr>
          <a:xfrm xmlns:a="http://schemas.openxmlformats.org/drawingml/2006/main">
            <a:off x="720000" y="792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A6B3A"/>
                </a:solidFill>
              </a:rPr>
              <a:t>Architecture: Agentic AI Pipeline</a:t>
            </a:r>
          </a:p>
        </p:txBody>
      </p:sp>
      <p:sp>
        <p:nvSpPr>
          <p:cNvPr id="100013" name="Layer1"/>
          <p:cNvSpPr txBox="1"/>
          <p:nvPr/>
        </p:nvSpPr>
        <p:spPr>
          <a:xfrm xmlns:a="http://schemas.openxmlformats.org/drawingml/2006/main">
            <a:off x="720000" y="1620000"/>
            <a:ext cx="10800000" cy="720000"/>
          </a:xfrm>
          <a:prstGeom xmlns:a="http://schemas.openxmlformats.org/drawingml/2006/main" prst="rect">
            <a:avLst/>
          </a:prstGeom>
          <a:solidFill xmlns:a="http://schemas.openxmlformats.org/drawingml/2006/main">
            <a:srgbClr val="FEF3C7"/>
          </a:solidFill>
        </p:spPr>
        <p:txBody>
          <a:bodyPr xmlns:a="http://schemas.openxmlformats.org/drawingml/2006/main"/>
          <a:lstStyle xmlns:a="http://schemas.openxmlformats.org/drawingml/2006/main"/>
          <a:p xmlns:a="http://schemas.openxmlformats.org/drawingml/2006/main">
            <a:r>
              <a:rPr lang="en-US" sz="1600" b="0">
                <a:solidFill>
                  <a:srgbClr val="92400E"/>
                </a:solidFill>
              </a:rPr>
              <a:t>PRESENTATION LAYER</a:t>
            </a:r>
          </a:p>
          <a:p xmlns:a="http://schemas.openxmlformats.org/drawingml/2006/main">
            <a:r>
              <a:rPr lang="en-US" sz="1600" b="0">
                <a:solidFill>
                  <a:srgbClr val="92400E"/>
                </a:solidFill>
              </a:rPr>
              <a:t>index.html (Landing Page)   +   Streamlit Web App (app.py)</a:t>
            </a:r>
          </a:p>
        </p:txBody>
      </p:sp>
      <p:sp>
        <p:nvSpPr>
          <p:cNvPr id="100014" name="Layer2"/>
          <p:cNvSpPr txBox="1"/>
          <p:nvPr/>
        </p:nvSpPr>
        <p:spPr>
          <a:xfrm xmlns:a="http://schemas.openxmlformats.org/drawingml/2006/main">
            <a:off x="720000" y="2520000"/>
            <a:ext cx="10800000" cy="72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600">
                <a:solidFill>
                  <a:srgbClr val="1A6B3A"/>
                </a:solidFill>
              </a:rPr>
              <a:t>AGENT ORCHESTRATION LAYER</a:t>
            </a:r>
          </a:p>
          <a:p xmlns:a="http://schemas.openxmlformats.org/drawingml/2006/main">
            <a:r>
              <a:rPr lang="en-US" sz="1600">
                <a:solidFill>
                  <a:srgbClr val="1A6B3A"/>
                </a:solidFill>
              </a:rPr>
              <a:t>User Profile Builder  ·  BMI/TDEE Calculator  ·  Context-aware Prompt Constructor</a:t>
            </a:r>
          </a:p>
        </p:txBody>
      </p:sp>
      <p:sp>
        <p:nvSpPr>
          <p:cNvPr id="100015" name="Layer3"/>
          <p:cNvSpPr txBox="1"/>
          <p:nvPr/>
        </p:nvSpPr>
        <p:spPr>
          <a:xfrm xmlns:a="http://schemas.openxmlformats.org/drawingml/2006/main">
            <a:off x="720000" y="3420000"/>
            <a:ext cx="10800000" cy="720000"/>
          </a:xfrm>
          <a:prstGeom xmlns:a="http://schemas.openxmlformats.org/drawingml/2006/main" prst="rect">
            <a:avLst/>
          </a:prstGeom>
          <a:solidFill xmlns:a="http://schemas.openxmlformats.org/drawingml/2006/main">
            <a:srgbClr val="E3F0FB"/>
          </a:solidFill>
        </p:spPr>
        <p:txBody>
          <a:bodyPr xmlns:a="http://schemas.openxmlformats.org/drawingml/2006/main"/>
          <a:lstStyle xmlns:a="http://schemas.openxmlformats.org/drawingml/2006/main"/>
          <a:p xmlns:a="http://schemas.openxmlformats.org/drawingml/2006/main">
            <a:r>
              <a:rPr lang="en-US" sz="1600">
                <a:solidFill>
                  <a:srgbClr val="1E40AF"/>
                </a:solidFill>
              </a:rPr>
              <a:t>IBM AI LAYER</a:t>
            </a:r>
          </a:p>
          <a:p xmlns:a="http://schemas.openxmlformats.org/drawingml/2006/main">
            <a:r>
              <a:rPr lang="en-US" sz="1600">
                <a:solidFill>
                  <a:srgbClr val="1E40AF"/>
                </a:solidFill>
              </a:rPr>
              <a:t>watsonx.ai SDK  →  IBM Granite-13B Instruct LLM  (1024 token response, T=0.7)</a:t>
            </a:r>
          </a:p>
        </p:txBody>
      </p:sp>
      <p:sp>
        <p:nvSpPr>
          <p:cNvPr id="100016" name="Layer4"/>
          <p:cNvSpPr txBox="1"/>
          <p:nvPr/>
        </p:nvSpPr>
        <p:spPr>
          <a:xfrm xmlns:a="http://schemas.openxmlformats.org/drawingml/2006/main">
            <a:off x="720000" y="4320000"/>
            <a:ext cx="10800000" cy="72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600">
                <a:solidFill>
                  <a:srgbClr val="57606A"/>
                </a:solidFill>
              </a:rPr>
              <a:t>OUTPUT LAYER</a:t>
            </a:r>
          </a:p>
          <a:p xmlns:a="http://schemas.openxmlformats.org/drawingml/2006/main">
            <a:r>
              <a:rPr lang="en-US" sz="1600">
                <a:solidFill>
                  <a:srgbClr val="57606A"/>
                </a:solidFill>
              </a:rPr>
              <a:t>Streamlit UI (charts, chat)  ·  plan.md (Markdown file)  ·  Session State (chat history)</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7" name="Label"/>
          <p:cNvSpPr txBox="1"/>
          <p:nvPr/>
        </p:nvSpPr>
        <p:spPr>
          <a:xfrm xmlns:a="http://schemas.openxmlformats.org/drawingml/2006/main">
            <a:off x="720000" y="36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2E9E5B"/>
                </a:solidFill>
              </a:rPr>
              <a:t>SLIDE 5  ·  KEY FEATURES</a:t>
            </a:r>
          </a:p>
        </p:txBody>
      </p:sp>
      <p:sp>
        <p:nvSpPr>
          <p:cNvPr id="100018" name="Title"/>
          <p:cNvSpPr txBox="1"/>
          <p:nvPr/>
        </p:nvSpPr>
        <p:spPr>
          <a:xfrm xmlns:a="http://schemas.openxmlformats.org/drawingml/2006/main">
            <a:off x="720000" y="792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A6B3A"/>
                </a:solidFill>
              </a:rPr>
              <a:t>Key Features Deep-Dive</a:t>
            </a:r>
          </a:p>
        </p:txBody>
      </p:sp>
      <p:sp>
        <p:nvSpPr>
          <p:cNvPr id="100019" name="F1"/>
          <p:cNvSpPr txBox="1"/>
          <p:nvPr/>
        </p:nvSpPr>
        <p:spPr>
          <a:xfrm xmlns:a="http://schemas.openxmlformats.org/drawingml/2006/main">
            <a:off x="720000" y="1620000"/>
            <a:ext cx="5040000" cy="1620000"/>
          </a:xfrm>
          <a:prstGeom xmlns:a="http://schemas.openxmlformats.org/drawingml/2006/main" prst="rect">
            <a:avLst/>
          </a:prstGeom>
          <a:solidFill xmlns:a="http://schemas.openxmlformats.org/drawingml/2006/main">
            <a:srgbClr val="F8FDF9"/>
          </a:solidFill>
        </p:spPr>
        <p:txBody>
          <a:bodyPr xmlns:a="http://schemas.openxmlformats.org/drawingml/2006/main"/>
          <a:lstStyle xmlns:a="http://schemas.openxmlformats.org/drawingml/2006/main"/>
          <a:p xmlns:a="http://schemas.openxmlformats.org/drawingml/2006/main">
            <a:r>
              <a:rPr lang="en-US" sz="1500">
                <a:solidFill>
                  <a:srgbClr val="1F2328"/>
                </a:solidFill>
              </a:rPr>
              <a:t>🧑 Smart Profiling</a:t>
            </a:r>
          </a:p>
          <a:p xmlns:a="http://schemas.openxmlformats.org/drawingml/2006/main">
            <a:r>
              <a:rPr lang="en-US" sz="1500">
                <a:solidFill>
                  <a:srgbClr val="1F2328"/>
                </a:solidFill>
              </a:rPr>
              <a:t>Age, weight, height, BMI, TDEE, goal, diet type, health conditions — all injected into every AI prompt for hyper-personalised responses.</a:t>
            </a:r>
          </a:p>
        </p:txBody>
      </p:sp>
      <p:sp>
        <p:nvSpPr>
          <p:cNvPr id="100020" name="F2"/>
          <p:cNvSpPr txBox="1"/>
          <p:nvPr/>
        </p:nvSpPr>
        <p:spPr>
          <a:xfrm xmlns:a="http://schemas.openxmlformats.org/drawingml/2006/main">
            <a:off x="6300000" y="1620000"/>
            <a:ext cx="5040000" cy="1620000"/>
          </a:xfrm>
          <a:prstGeom xmlns:a="http://schemas.openxmlformats.org/drawingml/2006/main" prst="rect">
            <a:avLst/>
          </a:prstGeom>
          <a:solidFill xmlns:a="http://schemas.openxmlformats.org/drawingml/2006/main">
            <a:srgbClr val="F8FDF9"/>
          </a:solidFill>
        </p:spPr>
        <p:txBody>
          <a:bodyPr xmlns:a="http://schemas.openxmlformats.org/drawingml/2006/main"/>
          <a:lstStyle xmlns:a="http://schemas.openxmlformats.org/drawingml/2006/main"/>
          <a:p xmlns:a="http://schemas.openxmlformats.org/drawingml/2006/main">
            <a:r>
              <a:rPr lang="en-US" sz="1500">
                <a:solidFill>
                  <a:srgbClr val="1F2328"/>
                </a:solidFill>
              </a:rPr>
              <a:t>📋 Meal Plan Export</a:t>
            </a:r>
          </a:p>
          <a:p xmlns:a="http://schemas.openxmlformats.org/drawingml/2006/main">
            <a:r>
              <a:rPr lang="en-US" sz="1500">
                <a:solidFill>
                  <a:srgbClr val="1F2328"/>
                </a:solidFill>
              </a:rPr>
              <a:t>Generated plans are saved automatically to plan.md with macros, micro-nutrient notes, and a sample grocery list.</a:t>
            </a:r>
          </a:p>
        </p:txBody>
      </p:sp>
      <p:sp>
        <p:nvSpPr>
          <p:cNvPr id="100021" name="F3"/>
          <p:cNvSpPr txBox="1"/>
          <p:nvPr/>
        </p:nvSpPr>
        <p:spPr>
          <a:xfrm xmlns:a="http://schemas.openxmlformats.org/drawingml/2006/main">
            <a:off x="720000" y="3600000"/>
            <a:ext cx="5040000" cy="1620000"/>
          </a:xfrm>
          <a:prstGeom xmlns:a="http://schemas.openxmlformats.org/drawingml/2006/main" prst="rect">
            <a:avLst/>
          </a:prstGeom>
          <a:solidFill xmlns:a="http://schemas.openxmlformats.org/drawingml/2006/main">
            <a:srgbClr val="F8FDF9"/>
          </a:solidFill>
        </p:spPr>
        <p:txBody>
          <a:bodyPr xmlns:a="http://schemas.openxmlformats.org/drawingml/2006/main"/>
          <a:lstStyle xmlns:a="http://schemas.openxmlformats.org/drawingml/2006/main"/>
          <a:p xmlns:a="http://schemas.openxmlformats.org/drawingml/2006/main">
            <a:r>
              <a:rPr lang="en-US" sz="1500">
                <a:solidFill>
                  <a:srgbClr val="1F2328"/>
                </a:solidFill>
              </a:rPr>
              <a:t>📊 Interactive Charts</a:t>
            </a:r>
          </a:p>
          <a:p xmlns:a="http://schemas.openxmlformats.org/drawingml/2006/main">
            <a:r>
              <a:rPr lang="en-US" sz="1500">
                <a:solidFill>
                  <a:srgbClr val="1F2328"/>
                </a:solidFill>
              </a:rPr>
              <a:t>Plotly donut &amp; bar charts visualise real-time caloric breakdown and goal-specific macro targets without any page refresh.</a:t>
            </a:r>
          </a:p>
        </p:txBody>
      </p:sp>
      <p:sp>
        <p:nvSpPr>
          <p:cNvPr id="100022" name="F4"/>
          <p:cNvSpPr txBox="1"/>
          <p:nvPr/>
        </p:nvSpPr>
        <p:spPr>
          <a:xfrm xmlns:a="http://schemas.openxmlformats.org/drawingml/2006/main">
            <a:off x="6300000" y="3600000"/>
            <a:ext cx="5040000" cy="1620000"/>
          </a:xfrm>
          <a:prstGeom xmlns:a="http://schemas.openxmlformats.org/drawingml/2006/main" prst="rect">
            <a:avLst/>
          </a:prstGeom>
          <a:solidFill xmlns:a="http://schemas.openxmlformats.org/drawingml/2006/main">
            <a:srgbClr val="F8FDF9"/>
          </a:solidFill>
        </p:spPr>
        <p:txBody>
          <a:bodyPr xmlns:a="http://schemas.openxmlformats.org/drawingml/2006/main"/>
          <a:lstStyle xmlns:a="http://schemas.openxmlformats.org/drawingml/2006/main"/>
          <a:p xmlns:a="http://schemas.openxmlformats.org/drawingml/2006/main">
            <a:r>
              <a:rPr lang="en-US" sz="1500">
                <a:solidFill>
                  <a:srgbClr val="1F2328"/>
                </a:solidFill>
              </a:rPr>
              <a:t>💬 Persistent Chat</a:t>
            </a:r>
          </a:p>
          <a:p xmlns:a="http://schemas.openxmlformats.org/drawingml/2006/main">
            <a:r>
              <a:rPr lang="en-US" sz="1500">
                <a:solidFill>
                  <a:srgbClr val="1F2328"/>
                </a:solidFill>
              </a:rPr>
              <a:t>Conversation history persists across turns in Streamlit session state, enabling multi-turn nutritional Q&amp;A.</a:t>
            </a:r>
          </a:p>
        </p:txBody>
      </p:sp>
    </p:spTree>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3" name="Label"/>
          <p:cNvSpPr txBox="1"/>
          <p:nvPr/>
        </p:nvSpPr>
        <p:spPr>
          <a:xfrm xmlns:a="http://schemas.openxmlformats.org/drawingml/2006/main">
            <a:off x="720000" y="36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2E9E5B"/>
                </a:solidFill>
              </a:rPr>
              <a:t>SLIDE 6  ·  IBM GRANITE &amp; WATSONX.AI</a:t>
            </a:r>
          </a:p>
        </p:txBody>
      </p:sp>
      <p:sp>
        <p:nvSpPr>
          <p:cNvPr id="100024" name="Title"/>
          <p:cNvSpPr txBox="1"/>
          <p:nvPr/>
        </p:nvSpPr>
        <p:spPr>
          <a:xfrm xmlns:a="http://schemas.openxmlformats.org/drawingml/2006/main">
            <a:off x="720000" y="792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A6B3A"/>
                </a:solidFill>
              </a:rPr>
              <a:t>IBM Granite LLM — The AI Core</a:t>
            </a:r>
          </a:p>
        </p:txBody>
      </p:sp>
      <p:sp>
        <p:nvSpPr>
          <p:cNvPr id="100025" name="GraniteInfo"/>
          <p:cNvSpPr txBox="1"/>
          <p:nvPr/>
        </p:nvSpPr>
        <p:spPr>
          <a:xfrm xmlns:a="http://schemas.openxmlformats.org/drawingml/2006/main">
            <a:off x="720000" y="1620000"/>
            <a:ext cx="6480000" cy="3600000"/>
          </a:xfrm>
          <a:prstGeom xmlns:a="http://schemas.openxmlformats.org/drawingml/2006/main" prst="rect">
            <a:avLst/>
          </a:prstGeom>
          <a:solidFill xmlns:a="http://schemas.openxmlformats.org/drawingml/2006/main">
            <a:srgbClr val="E3F0FB"/>
          </a:solidFill>
        </p:spPr>
        <p:txBody>
          <a:bodyPr xmlns:a="http://schemas.openxmlformats.org/drawingml/2006/main"/>
          <a:lstStyle xmlns:a="http://schemas.openxmlformats.org/drawingml/2006/main"/>
          <a:p xmlns:a="http://schemas.openxmlformats.org/drawingml/2006/main">
            <a:r>
              <a:rPr lang="en-US" sz="1700">
                <a:solidFill>
                  <a:srgbClr val="1E40AF"/>
                </a:solidFill>
              </a:rPr>
              <a:t>IBM Granite-13B Instruct</a:t>
            </a:r>
          </a:p>
          <a:p xmlns:a="http://schemas.openxmlformats.org/drawingml/2006/main">
            <a:r>
              <a:rPr lang="en-US" sz="1700">
                <a:solidFill>
                  <a:srgbClr val="1E40AF"/>
                </a:solidFill>
              </a:rPr>
              <a:t/>
            </a:r>
          </a:p>
          <a:p xmlns:a="http://schemas.openxmlformats.org/drawingml/2006/main">
            <a:r>
              <a:rPr lang="en-US" sz="1700">
                <a:solidFill>
                  <a:srgbClr val="1E40AF"/>
                </a:solidFill>
              </a:rPr>
              <a:t>• Enterprise-grade, safety-tuned large language model</a:t>
            </a:r>
          </a:p>
          <a:p xmlns:a="http://schemas.openxmlformats.org/drawingml/2006/main">
            <a:r>
              <a:rPr lang="en-US" sz="1700">
                <a:solidFill>
                  <a:srgbClr val="1E40AF"/>
                </a:solidFill>
              </a:rPr>
              <a:t>• Trained on curated high-quality data (no web-scraped harmful content)</a:t>
            </a:r>
          </a:p>
          <a:p xmlns:a="http://schemas.openxmlformats.org/drawingml/2006/main">
            <a:r>
              <a:rPr lang="en-US" sz="1700">
                <a:solidFill>
                  <a:srgbClr val="1E40AF"/>
                </a:solidFill>
              </a:rPr>
              <a:t>• Optimised for instruction-following tasks: Q&amp;A, summarisation, generation</a:t>
            </a:r>
          </a:p>
          <a:p xmlns:a="http://schemas.openxmlformats.org/drawingml/2006/main">
            <a:r>
              <a:rPr lang="en-US" sz="1700">
                <a:solidFill>
                  <a:srgbClr val="1E40AF"/>
                </a:solidFill>
              </a:rPr>
              <a:t>• Transparent AI — IBM publishes training data sources</a:t>
            </a:r>
          </a:p>
          <a:p xmlns:a="http://schemas.openxmlformats.org/drawingml/2006/main">
            <a:r>
              <a:rPr lang="en-US" sz="1700">
                <a:solidFill>
                  <a:srgbClr val="1E40AF"/>
                </a:solidFill>
              </a:rPr>
              <a:t>• Available via IBM watsonx.ai REST API (no GPU hardware needed)</a:t>
            </a:r>
          </a:p>
        </p:txBody>
      </p:sp>
      <p:sp>
        <p:nvSpPr>
          <p:cNvPr id="100026" name="Params"/>
          <p:cNvSpPr txBox="1"/>
          <p:nvPr/>
        </p:nvSpPr>
        <p:spPr>
          <a:xfrm xmlns:a="http://schemas.openxmlformats.org/drawingml/2006/main">
            <a:off x="7560000" y="1620000"/>
            <a:ext cx="4680000" cy="360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600">
                <a:solidFill>
                  <a:srgbClr val="1A6B3A"/>
                </a:solidFill>
              </a:rPr>
              <a:t>Model Configuration</a:t>
            </a:r>
          </a:p>
          <a:p xmlns:a="http://schemas.openxmlformats.org/drawingml/2006/main">
            <a:r>
              <a:rPr lang="en-US" sz="1600">
                <a:solidFill>
                  <a:srgbClr val="1A6B3A"/>
                </a:solidFill>
              </a:rPr>
              <a:t/>
            </a:r>
          </a:p>
          <a:p xmlns:a="http://schemas.openxmlformats.org/drawingml/2006/main">
            <a:r>
              <a:rPr lang="en-US" sz="1600">
                <a:solidFill>
                  <a:srgbClr val="1A6B3A"/>
                </a:solidFill>
              </a:rPr>
              <a:t>Model ID:  ibm/granite-13b-instruct-v2</a:t>
            </a:r>
          </a:p>
          <a:p xmlns:a="http://schemas.openxmlformats.org/drawingml/2006/main">
            <a:r>
              <a:rPr lang="en-US" sz="1600">
                <a:solidFill>
                  <a:srgbClr val="1A6B3A"/>
                </a:solidFill>
              </a:rPr>
              <a:t>Max tokens:  1,024</a:t>
            </a:r>
          </a:p>
          <a:p xmlns:a="http://schemas.openxmlformats.org/drawingml/2006/main">
            <a:r>
              <a:rPr lang="en-US" sz="1600">
                <a:solidFill>
                  <a:srgbClr val="1A6B3A"/>
                </a:solidFill>
              </a:rPr>
              <a:t>Temperature:  0.7</a:t>
            </a:r>
          </a:p>
          <a:p xmlns:a="http://schemas.openxmlformats.org/drawingml/2006/main">
            <a:r>
              <a:rPr lang="en-US" sz="1600">
                <a:solidFill>
                  <a:srgbClr val="1A6B3A"/>
                </a:solidFill>
              </a:rPr>
              <a:t>Top-P:  0.9</a:t>
            </a:r>
          </a:p>
          <a:p xmlns:a="http://schemas.openxmlformats.org/drawingml/2006/main">
            <a:r>
              <a:rPr lang="en-US" sz="1600">
                <a:solidFill>
                  <a:srgbClr val="1A6B3A"/>
                </a:solidFill>
              </a:rPr>
              <a:t>Repetition penalty:  1.1</a:t>
            </a:r>
          </a:p>
          <a:p xmlns:a="http://schemas.openxmlformats.org/drawingml/2006/main">
            <a:r>
              <a:rPr lang="en-US" sz="1600">
                <a:solidFill>
                  <a:srgbClr val="1A6B3A"/>
                </a:solidFill>
              </a:rPr>
              <a:t/>
            </a:r>
          </a:p>
          <a:p xmlns:a="http://schemas.openxmlformats.org/drawingml/2006/main">
            <a:r>
              <a:rPr lang="en-US" sz="1600">
                <a:solidFill>
                  <a:srgbClr val="1A6B3A"/>
                </a:solidFill>
              </a:rPr>
              <a:t>Authentication:</a:t>
            </a:r>
          </a:p>
          <a:p xmlns:a="http://schemas.openxmlformats.org/drawingml/2006/main">
            <a:r>
              <a:rPr lang="en-US" sz="1600">
                <a:solidFill>
                  <a:srgbClr val="1A6B3A"/>
                </a:solidFill>
              </a:rPr>
              <a:t>IAM API Key  +  Project ID</a:t>
            </a:r>
          </a:p>
          <a:p xmlns:a="http://schemas.openxmlformats.org/drawingml/2006/main">
            <a:r>
              <a:rPr lang="en-US" sz="1600">
                <a:solidFill>
                  <a:srgbClr val="1A6B3A"/>
                </a:solidFill>
              </a:rPr>
              <a:t>via ibm-watsonx-ai SDK</a:t>
            </a:r>
          </a:p>
        </p:txBody>
      </p:sp>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7" name="Label"/>
          <p:cNvSpPr txBox="1"/>
          <p:nvPr/>
        </p:nvSpPr>
        <p:spPr>
          <a:xfrm xmlns:a="http://schemas.openxmlformats.org/drawingml/2006/main">
            <a:off x="720000" y="36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2E9E5B"/>
                </a:solidFill>
              </a:rPr>
              <a:t>SLIDE 7  ·  TECH STACK &amp; PROJECT FILES</a:t>
            </a:r>
          </a:p>
        </p:txBody>
      </p:sp>
      <p:sp>
        <p:nvSpPr>
          <p:cNvPr id="100028" name="Title"/>
          <p:cNvSpPr txBox="1"/>
          <p:nvPr/>
        </p:nvSpPr>
        <p:spPr>
          <a:xfrm xmlns:a="http://schemas.openxmlformats.org/drawingml/2006/main">
            <a:off x="720000" y="792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A6B3A"/>
                </a:solidFill>
              </a:rPr>
              <a:t>Tech Stack &amp; Project Structure</a:t>
            </a:r>
          </a:p>
        </p:txBody>
      </p:sp>
      <p:sp>
        <p:nvSpPr>
          <p:cNvPr id="100029" name="Stack"/>
          <p:cNvSpPr txBox="1"/>
          <p:nvPr/>
        </p:nvSpPr>
        <p:spPr>
          <a:xfrm xmlns:a="http://schemas.openxmlformats.org/drawingml/2006/main">
            <a:off x="720000" y="1620000"/>
            <a:ext cx="5040000" cy="3960000"/>
          </a:xfrm>
          <a:prstGeom xmlns:a="http://schemas.openxmlformats.org/drawingml/2006/main" prst="rect">
            <a:avLst/>
          </a:prstGeom>
          <a:solidFill xmlns:a="http://schemas.openxmlformats.org/drawingml/2006/main">
            <a:srgbClr val="E3F0FB"/>
          </a:solidFill>
        </p:spPr>
        <p:txBody>
          <a:bodyPr xmlns:a="http://schemas.openxmlformats.org/drawingml/2006/main"/>
          <a:lstStyle xmlns:a="http://schemas.openxmlformats.org/drawingml/2006/main"/>
          <a:p xmlns:a="http://schemas.openxmlformats.org/drawingml/2006/main">
            <a:r>
              <a:rPr lang="en-US" sz="1700">
                <a:solidFill>
                  <a:srgbClr val="1E40AF"/>
                </a:solidFill>
              </a:rPr>
              <a:t>Technology Stack</a:t>
            </a:r>
          </a:p>
          <a:p xmlns:a="http://schemas.openxmlformats.org/drawingml/2006/main">
            <a:r>
              <a:rPr lang="en-US" sz="1700">
                <a:solidFill>
                  <a:srgbClr val="1E40AF"/>
                </a:solidFill>
              </a:rPr>
              <a:t/>
            </a:r>
          </a:p>
          <a:p xmlns:a="http://schemas.openxmlformats.org/drawingml/2006/main">
            <a:r>
              <a:rPr lang="en-US" sz="1700">
                <a:solidFill>
                  <a:srgbClr val="1E40AF"/>
                </a:solidFill>
              </a:rPr>
              <a:t>🤖  IBM Granite-13B Instruct  (LLM)</a:t>
            </a:r>
          </a:p>
          <a:p xmlns:a="http://schemas.openxmlformats.org/drawingml/2006/main">
            <a:r>
              <a:rPr lang="en-US" sz="1700">
                <a:solidFill>
                  <a:srgbClr val="1E40AF"/>
                </a:solidFill>
              </a:rPr>
              <a:t>☁️   IBM watsonx.ai  (AI platform)</a:t>
            </a:r>
          </a:p>
          <a:p xmlns:a="http://schemas.openxmlformats.org/drawingml/2006/main">
            <a:r>
              <a:rPr lang="en-US" sz="1700">
                <a:solidFill>
                  <a:srgbClr val="1E40AF"/>
                </a:solidFill>
              </a:rPr>
              <a:t>🐍  Python 3.11</a:t>
            </a:r>
          </a:p>
          <a:p xmlns:a="http://schemas.openxmlformats.org/drawingml/2006/main">
            <a:r>
              <a:rPr lang="en-US" sz="1700">
                <a:solidFill>
                  <a:srgbClr val="1E40AF"/>
                </a:solidFill>
              </a:rPr>
              <a:t>🌐  Streamlit 1.35  (web framework)</a:t>
            </a:r>
          </a:p>
          <a:p xmlns:a="http://schemas.openxmlformats.org/drawingml/2006/main">
            <a:r>
              <a:rPr lang="en-US" sz="1700">
                <a:solidFill>
                  <a:srgbClr val="1E40AF"/>
                </a:solidFill>
              </a:rPr>
              <a:t>📦  ibm-watsonx-ai SDK</a:t>
            </a:r>
          </a:p>
          <a:p xmlns:a="http://schemas.openxmlformats.org/drawingml/2006/main">
            <a:r>
              <a:rPr lang="en-US" sz="1700">
                <a:solidFill>
                  <a:srgbClr val="1E40AF"/>
                </a:solidFill>
              </a:rPr>
              <a:t>🔗  LangChain-IBM  (agent support)</a:t>
            </a:r>
          </a:p>
          <a:p xmlns:a="http://schemas.openxmlformats.org/drawingml/2006/main">
            <a:r>
              <a:rPr lang="en-US" sz="1700">
                <a:solidFill>
                  <a:srgbClr val="1E40AF"/>
                </a:solidFill>
              </a:rPr>
              <a:t>📊  Plotly  (interactive charts)</a:t>
            </a:r>
          </a:p>
          <a:p xmlns:a="http://schemas.openxmlformats.org/drawingml/2006/main">
            <a:r>
              <a:rPr lang="en-US" sz="1700">
                <a:solidFill>
                  <a:srgbClr val="1E40AF"/>
                </a:solidFill>
              </a:rPr>
              <a:t>🐼  Pandas  (data handling)</a:t>
            </a:r>
          </a:p>
          <a:p xmlns:a="http://schemas.openxmlformats.org/drawingml/2006/main">
            <a:r>
              <a:rPr lang="en-US" sz="1700">
                <a:solidFill>
                  <a:srgbClr val="1E40AF"/>
                </a:solidFill>
              </a:rPr>
              <a:t>🔑  python-dotenv  (secrets management)</a:t>
            </a:r>
          </a:p>
        </p:txBody>
      </p:sp>
      <p:sp>
        <p:nvSpPr>
          <p:cNvPr id="100030" name="Files"/>
          <p:cNvSpPr txBox="1"/>
          <p:nvPr/>
        </p:nvSpPr>
        <p:spPr>
          <a:xfrm xmlns:a="http://schemas.openxmlformats.org/drawingml/2006/main">
            <a:off x="6300000" y="1620000"/>
            <a:ext cx="5400000" cy="396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600">
                <a:solidFill>
                  <a:srgbClr val="1A6B3A"/>
                </a:solidFill>
              </a:rPr>
              <a:t>Project Files</a:t>
            </a:r>
          </a:p>
          <a:p xmlns:a="http://schemas.openxmlformats.org/drawingml/2006/main">
            <a:r>
              <a:rPr lang="en-US" sz="1600">
                <a:solidFill>
                  <a:srgbClr val="1A6B3A"/>
                </a:solidFill>
              </a:rPr>
              <a:t/>
            </a:r>
          </a:p>
          <a:p xmlns:a="http://schemas.openxmlformats.org/drawingml/2006/main">
            <a:r>
              <a:rPr lang="en-US" sz="1600">
                <a:solidFill>
                  <a:srgbClr val="1A6B3A"/>
                </a:solidFill>
              </a:rPr>
              <a:t>app.py          Main Streamlit application</a:t>
            </a:r>
          </a:p>
          <a:p xmlns:a="http://schemas.openxmlformats.org/drawingml/2006/main">
            <a:r>
              <a:rPr lang="en-US" sz="1600">
                <a:solidFill>
                  <a:srgbClr val="1A6B3A"/>
                </a:solidFill>
              </a:rPr>
              <a:t>index.html      Static landing page</a:t>
            </a:r>
          </a:p>
          <a:p xmlns:a="http://schemas.openxmlformats.org/drawingml/2006/main">
            <a:r>
              <a:rPr lang="en-US" sz="1600">
                <a:solidFill>
                  <a:srgbClr val="1A6B3A"/>
                </a:solidFill>
              </a:rPr>
              <a:t>plan.md         Auto-generated nutrition plan</a:t>
            </a:r>
          </a:p>
          <a:p xmlns:a="http://schemas.openxmlformats.org/drawingml/2006/main">
            <a:r>
              <a:rPr lang="en-US" sz="1600">
                <a:solidFill>
                  <a:srgbClr val="1A6B3A"/>
                </a:solidFill>
              </a:rPr>
              <a:t>requirements.txt  Python dependencies</a:t>
            </a:r>
          </a:p>
          <a:p xmlns:a="http://schemas.openxmlformats.org/drawingml/2006/main">
            <a:r>
              <a:rPr lang="en-US" sz="1600">
                <a:solidFill>
                  <a:srgbClr val="1A6B3A"/>
                </a:solidFill>
              </a:rPr>
              <a:t>run.bat         One-click Windows launcher</a:t>
            </a:r>
          </a:p>
          <a:p xmlns:a="http://schemas.openxmlformats.org/drawingml/2006/main">
            <a:r>
              <a:rPr lang="en-US" sz="1600">
                <a:solidFill>
                  <a:srgbClr val="1A6B3A"/>
                </a:solidFill>
              </a:rPr>
              <a:t>.env.example    Credential template</a:t>
            </a:r>
          </a:p>
          <a:p xmlns:a="http://schemas.openxmlformats.org/drawingml/2006/main">
            <a:r>
              <a:rPr lang="en-US" sz="1600">
                <a:solidFill>
                  <a:srgbClr val="1A6B3A"/>
                </a:solidFill>
              </a:rPr>
              <a:t>README.md       Project documentation</a:t>
            </a:r>
          </a:p>
          <a:p xmlns:a="http://schemas.openxmlformats.org/drawingml/2006/main">
            <a:r>
              <a:rPr lang="en-US" sz="1600">
                <a:solidFill>
                  <a:srgbClr val="1A6B3A"/>
                </a:solidFill>
              </a:rPr>
              <a:t>NutriAgent_AI_Presentation.pptx</a:t>
            </a:r>
          </a:p>
          <a:p xmlns:a="http://schemas.openxmlformats.org/drawingml/2006/main">
            <a:r>
              <a:rPr lang="en-US" sz="1600">
                <a:solidFill>
                  <a:srgbClr val="1A6B3A"/>
                </a:solidFill>
              </a:rPr>
              <a:t>                This presentation</a:t>
            </a:r>
          </a:p>
        </p:txBody>
      </p:sp>
    </p:spTree>
  </p:cSld>
</p:sld>
</file>

<file path=ppt/slides/slide8.xml><?xml version="1.0" encoding="utf-8"?>
<p:sld xmlns:p="http://schemas.openxmlformats.org/presentationml/2006/main">
  <p:cSld>
    <p:bg>
      <p:bgPr>
        <a:solidFill xmlns:a="http://schemas.openxmlformats.org/drawingml/2006/main">
          <a:srgbClr val="1A6B3A"/>
        </a:solidFill>
      </p:bgPr>
    </p:bg>
    <p:spTree>
      <p:nvGrpSpPr>
        <p:cNvPr id="1" name=""/>
        <p:cNvGrpSpPr/>
        <p:nvPr/>
      </p:nvGrpSpPr>
      <p:grpSpPr/>
      <p:sp>
        <p:nvSpPr>
          <p:cNvPr id="100031" name="Title"/>
          <p:cNvSpPr txBox="1"/>
          <p:nvPr/>
        </p:nvSpPr>
        <p:spPr>
          <a:xfrm xmlns:a="http://schemas.openxmlformats.org/drawingml/2006/main">
            <a:off x="720000" y="1080000"/>
            <a:ext cx="10800000" cy="10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5400" b="1">
                <a:solidFill>
                  <a:srgbClr val="FFFFFF"/>
                </a:solidFill>
              </a:rPr>
              <a:t>Thank You</a:t>
            </a:r>
          </a:p>
        </p:txBody>
      </p:sp>
      <p:sp>
        <p:nvSpPr>
          <p:cNvPr id="100032" name="Subtitle"/>
          <p:cNvSpPr txBox="1"/>
          <p:nvPr/>
        </p:nvSpPr>
        <p:spPr>
          <a:xfrm xmlns:a="http://schemas.openxmlformats.org/drawingml/2006/main">
            <a:off x="720000" y="2340000"/>
            <a:ext cx="1080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0">
                <a:solidFill>
                  <a:srgbClr val="C8E6C9"/>
                </a:solidFill>
              </a:rPr>
              <a:t>NutriAgent AI — Personalised Nutrition Intelligence</a:t>
            </a:r>
          </a:p>
          <a:p xmlns:a="http://schemas.openxmlformats.org/drawingml/2006/main">
            <a:r>
              <a:rPr lang="en-US" sz="2200" b="0">
                <a:solidFill>
                  <a:srgbClr val="C8E6C9"/>
                </a:solidFill>
              </a:rPr>
              <a:t>Powered by IBM Granite LLM &amp; watsonx.ai</a:t>
            </a:r>
          </a:p>
        </p:txBody>
      </p:sp>
      <p:sp>
        <p:nvSpPr>
          <p:cNvPr id="100033" name="Steps"/>
          <p:cNvSpPr txBox="1"/>
          <p:nvPr/>
        </p:nvSpPr>
        <p:spPr>
          <a:xfrm xmlns:a="http://schemas.openxmlformats.org/drawingml/2006/main">
            <a:off x="720000" y="3600000"/>
            <a:ext cx="10800000" cy="18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FFFFFF"/>
                </a:solidFill>
              </a:rPr>
              <a:t>Getting Started in 3 Steps</a:t>
            </a:r>
          </a:p>
          <a:p xmlns:a="http://schemas.openxmlformats.org/drawingml/2006/main">
            <a:r>
              <a:rPr lang="en-US" sz="1800">
                <a:solidFill>
                  <a:srgbClr val="FFFFFF"/>
                </a:solidFill>
              </a:rPr>
              <a:t/>
            </a:r>
          </a:p>
          <a:p xmlns:a="http://schemas.openxmlformats.org/drawingml/2006/main">
            <a:r>
              <a:rPr lang="en-US" sz="1800">
                <a:solidFill>
                  <a:srgbClr val="FFFFFF"/>
                </a:solidFill>
              </a:rPr>
              <a:t>1. Copy .env.example → .env   and add your IBM credentials</a:t>
            </a:r>
          </a:p>
          <a:p xmlns:a="http://schemas.openxmlformats.org/drawingml/2006/main">
            <a:r>
              <a:rPr lang="en-US" sz="1800">
                <a:solidFill>
                  <a:srgbClr val="FFFFFF"/>
                </a:solidFill>
              </a:rPr>
              <a:t>2. Double-click run.bat   (creates venv, installs deps, launches app)</a:t>
            </a:r>
          </a:p>
          <a:p xmlns:a="http://schemas.openxmlformats.org/drawingml/2006/main">
            <a:r>
              <a:rPr lang="en-US" sz="1800">
                <a:solidFill>
                  <a:srgbClr val="FFFFFF"/>
                </a:solidFill>
              </a:rPr>
              <a:t>3. Open  http://localhost:8501  and start your nutrition journey!</a:t>
            </a:r>
          </a:p>
        </p:txBody>
      </p:sp>
      <p:sp>
        <p:nvSpPr>
          <p:cNvPr id="100034" name="Footer"/>
          <p:cNvSpPr txBox="1"/>
          <p:nvPr/>
        </p:nvSpPr>
        <p:spPr>
          <a:xfrm xmlns:a="http://schemas.openxmlformats.org/drawingml/2006/main">
            <a:off x="720000" y="6120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A5D6A7"/>
                </a:solidFill>
              </a:rPr>
              <a:t>IBM watsonx.ai  ·  IBM Granite LLM  ·  Streamlit  ·  Python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2026-10-14T06:35:18Z</dcterms:created>
  <cp:lastModifiedBy>OfficeCLI</cp:lastModifiedBy>
  <dcterms:modified xsi:type="dcterms:W3CDTF">2026-10-14T06:35:18Z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1.0.157</vt:lpwstr>
  </op:property>
  <op:property fmtid="{D5CDD505-2E9C-101B-9397-08002B2CF9AE}" pid="3" name="OfficeCLI.LastModified">
    <vt:lpwstr xmlns:vt="http://schemas.openxmlformats.org/officeDocument/2006/docPropsVTypes">2026-10-14T06:36:40Z</vt:lpwstr>
  </op:property>
</op:Properties>
</file>